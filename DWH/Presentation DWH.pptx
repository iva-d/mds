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FED5"/>
    <a:srgbClr val="00FFC3"/>
    <a:srgbClr val="E0E0E0"/>
    <a:srgbClr val="394F63"/>
    <a:srgbClr val="2D6A4F"/>
    <a:srgbClr val="1B43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9"/>
    <p:restoredTop sz="94682"/>
  </p:normalViewPr>
  <p:slideViewPr>
    <p:cSldViewPr snapToGrid="0">
      <p:cViewPr varScale="1">
        <p:scale>
          <a:sx n="102" d="100"/>
          <a:sy n="102" d="100"/>
        </p:scale>
        <p:origin x="21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B8CAA-E627-C551-97A4-811932A91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51D2A2-6E28-C7A5-92B1-562D6BC18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BA2BD-D7C5-8936-8095-0D31149D6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0F5E-163A-D045-AC01-E3368C69153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315B3-9D2B-5554-2954-4B2B524E4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E36D9-DFCD-235A-D0E2-0DBDC6B64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CF7B7-A988-7C44-AC97-AB31C6C8E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90AEC-E6BC-4379-1874-141E84D9D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8C434-EEDB-0B13-9A02-96861F4AB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E1675-BD76-FD06-D750-1A8D0DB3E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0F5E-163A-D045-AC01-E3368C69153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FAB2F-0928-78C6-CE64-5187802FE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38B26-7835-E746-4F34-0476BF0A1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CF7B7-A988-7C44-AC97-AB31C6C8E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2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F966A-2000-23B0-4E5F-0173D5F27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048E6-30F6-2319-2D97-9DB7966DC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B0A2A-64D9-8022-48B2-4227FA07E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0F5E-163A-D045-AC01-E3368C69153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315DE-554D-A383-3EB8-E48E605A5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F1719-1D7D-CA03-8A52-DA0927F1D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CF7B7-A988-7C44-AC97-AB31C6C8E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68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E8E0-98AF-93BF-E19F-67925BF71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1F377-974B-7688-6778-D83B567C62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4186D-DBB9-8BCB-9ED4-78950901C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5CAA4-D19A-0682-08EE-3487D5631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0F5E-163A-D045-AC01-E3368C69153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5DADA-AFF9-438B-A811-B89D111A4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4733F-D2BE-75F6-643B-4A1AFB884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CF7B7-A988-7C44-AC97-AB31C6C8E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52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4F73F-C1E2-E18E-0B0A-5C4A671D3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44116-C3CD-A09A-2A4A-95D6C630F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DA129-D88D-EEF5-D15A-9632130E8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583240-3A9D-80D3-ADED-C420F9073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47ED1C-350C-7953-843E-929645C0E2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F935A5-0496-CDD6-3E6B-8591E3F80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0F5E-163A-D045-AC01-E3368C69153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ECCA66-8827-1FED-2251-B58FCDA84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A66C49-FC61-953F-BAC1-8F702A16E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CF7B7-A988-7C44-AC97-AB31C6C8E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1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82A7C-500F-629F-6A15-6B7BC146E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3BEEB0-1403-59C1-F029-45D3F4C22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0F5E-163A-D045-AC01-E3368C69153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2E29A5-594B-F980-4F6C-371F4BE93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CD6849-6021-80C0-EAA3-44545ED80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CF7B7-A988-7C44-AC97-AB31C6C8E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409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252A46-2E05-29B9-3CEF-2C6668F8B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0F5E-163A-D045-AC01-E3368C69153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9E502-01A9-5AF5-91D4-58473CFFB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F01E5-9D36-0B31-BDB4-51FD9325C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CF7B7-A988-7C44-AC97-AB31C6C8E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617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6AA19-7E7B-F588-431C-8235B2C18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970BD-98F2-20A8-ED58-DFB38123F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F8378-7998-414B-7830-8DC86A769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8254B-3445-D9E7-AD6C-42BA81DE2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0F5E-163A-D045-AC01-E3368C69153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8ABC9C-A6FC-24E0-AA09-517D8A3F2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A28D7-DEE2-0809-9D1F-F7B8B2F26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CF7B7-A988-7C44-AC97-AB31C6C8E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220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81696-0A10-9B37-6BBA-49C174651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F33600-7652-7F2A-353D-0A54FBC0F5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9C84B-3A94-9F32-3602-270438771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4FEC4D-6F81-3C34-1695-054EC1B2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0F5E-163A-D045-AC01-E3368C69153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A725D-5DCC-EEC6-E93E-4F808FD1E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A9CD3-3E02-D8D6-92EE-6870E427C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CF7B7-A988-7C44-AC97-AB31C6C8E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89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8ADAB-D7FA-8FE0-A40C-39FA3C98C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FB99E-9FA9-2558-FF64-B92B3B476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AD193-15EE-185E-300B-DDE95D815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0F5E-163A-D045-AC01-E3368C69153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C8899-E872-901E-F802-065C0AEA1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ED615-52C1-3AFD-5660-92476B4BC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CF7B7-A988-7C44-AC97-AB31C6C8E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68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44B638-FF00-D496-A2F4-0688F5108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BFBFE-84B2-D85E-8939-19B51CCBC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17756-5D0B-7261-7392-9CAD8FCFE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0F5E-163A-D045-AC01-E3368C69153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A0776-C359-42CB-626F-0DBD18659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FECC4-898D-70F0-A2BA-BEF23BC0D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CF7B7-A988-7C44-AC97-AB31C6C8E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82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E8C5E-CCFC-933D-7189-E6D2DFE4C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50257-06D4-7CC2-7150-E1EAC2021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7DBCA-930B-5095-04FB-1926E26971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250F5E-163A-D045-AC01-E3368C69153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89B88-474B-25C0-FE00-B2F2FA154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A461D-7814-B70C-0941-E3234235F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FCF7B7-A988-7C44-AC97-AB31C6C8E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31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448665F-78BC-5DF0-02BB-6125EC7C37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10790"/>
          <a:stretch>
            <a:fillRect/>
          </a:stretch>
        </p:blipFill>
        <p:spPr>
          <a:xfrm>
            <a:off x="0" y="1"/>
            <a:ext cx="1219931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39EA46-2D0D-30B8-7EE1-9F199113BA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4570" y="228599"/>
            <a:ext cx="5442858" cy="150948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394F6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EcoRide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390D17-B804-EAA5-B162-0F34379BAFC1}"/>
              </a:ext>
            </a:extLst>
          </p:cNvPr>
          <p:cNvSpPr txBox="1"/>
          <p:nvPr/>
        </p:nvSpPr>
        <p:spPr>
          <a:xfrm>
            <a:off x="3526970" y="1611086"/>
            <a:ext cx="5138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Management and Warehousing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8167E9-7750-4DCE-D183-ED8CAE7C4649}"/>
              </a:ext>
            </a:extLst>
          </p:cNvPr>
          <p:cNvSpPr txBox="1"/>
          <p:nvPr/>
        </p:nvSpPr>
        <p:spPr>
          <a:xfrm>
            <a:off x="9322015" y="5112564"/>
            <a:ext cx="24166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394F63"/>
                </a:solidFill>
              </a:rPr>
              <a:t>Team Members:</a:t>
            </a:r>
          </a:p>
          <a:p>
            <a:pPr algn="r"/>
            <a:r>
              <a:rPr lang="en-US" dirty="0">
                <a:solidFill>
                  <a:srgbClr val="394F63"/>
                </a:solidFill>
              </a:rPr>
              <a:t>Angela Zhang</a:t>
            </a:r>
          </a:p>
          <a:p>
            <a:pPr algn="r"/>
            <a:r>
              <a:rPr lang="en-US" dirty="0">
                <a:solidFill>
                  <a:srgbClr val="394F63"/>
                </a:solidFill>
              </a:rPr>
              <a:t>Jaloliddin Akhmedov</a:t>
            </a:r>
          </a:p>
          <a:p>
            <a:pPr algn="r"/>
            <a:r>
              <a:rPr lang="en-US" dirty="0">
                <a:solidFill>
                  <a:srgbClr val="394F63"/>
                </a:solidFill>
              </a:rPr>
              <a:t>Iva Dodikj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1AC9CE-02B3-ADFD-94F0-0F2B97B114B8}"/>
              </a:ext>
            </a:extLst>
          </p:cNvPr>
          <p:cNvSpPr txBox="1"/>
          <p:nvPr/>
        </p:nvSpPr>
        <p:spPr>
          <a:xfrm>
            <a:off x="5355771" y="6543726"/>
            <a:ext cx="1480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394F63"/>
                </a:solidFill>
              </a:rPr>
              <a:t>March 24,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C372C0-42E9-314A-2300-F5164C1205AA}"/>
              </a:ext>
            </a:extLst>
          </p:cNvPr>
          <p:cNvSpPr txBox="1"/>
          <p:nvPr/>
        </p:nvSpPr>
        <p:spPr>
          <a:xfrm>
            <a:off x="453357" y="5943561"/>
            <a:ext cx="2416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94F63"/>
                </a:solidFill>
              </a:rPr>
              <a:t>Prof. Alessio Saltarin</a:t>
            </a:r>
          </a:p>
        </p:txBody>
      </p:sp>
    </p:spTree>
    <p:extLst>
      <p:ext uri="{BB962C8B-B14F-4D97-AF65-F5344CB8AC3E}">
        <p14:creationId xmlns:p14="http://schemas.microsoft.com/office/powerpoint/2010/main" val="3052615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93C117-0274-ED94-AA2B-F7A83EBDD855}"/>
              </a:ext>
            </a:extLst>
          </p:cNvPr>
          <p:cNvSpPr txBox="1"/>
          <p:nvPr/>
        </p:nvSpPr>
        <p:spPr>
          <a:xfrm>
            <a:off x="1842310" y="365758"/>
            <a:ext cx="1776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394F6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Vision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494CA3-9EC2-ABB6-03B6-2872611951DF}"/>
              </a:ext>
            </a:extLst>
          </p:cNvPr>
          <p:cNvSpPr txBox="1"/>
          <p:nvPr/>
        </p:nvSpPr>
        <p:spPr>
          <a:xfrm>
            <a:off x="7280572" y="365759"/>
            <a:ext cx="40337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394F6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Architectural Challenge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551D9-7165-6723-4554-18658AFE4368}"/>
              </a:ext>
            </a:extLst>
          </p:cNvPr>
          <p:cNvSpPr txBox="1"/>
          <p:nvPr/>
        </p:nvSpPr>
        <p:spPr>
          <a:xfrm>
            <a:off x="647060" y="1162593"/>
            <a:ext cx="44949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Neo-Metropolis is transitioning to a smart, sustainable urban infrastructure. </a:t>
            </a:r>
            <a:r>
              <a:rPr lang="en-US" b="1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EcoRide</a:t>
            </a:r>
            <a:r>
              <a:rPr lang="en-US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serves as the backbone of this green initiative, providing seamless mobility through a massive fleet of standard and electric bicycles.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AF703D-F593-40D2-C298-F46FACF1F142}"/>
              </a:ext>
            </a:extLst>
          </p:cNvPr>
          <p:cNvSpPr txBox="1"/>
          <p:nvPr/>
        </p:nvSpPr>
        <p:spPr>
          <a:xfrm>
            <a:off x="7050002" y="1162592"/>
            <a:ext cx="449493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Our role as Database Architects was to design a robust relational schema capable of supporting: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Real-Time Inventory Management:</a:t>
            </a:r>
            <a:r>
              <a:rPr lang="en-US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Tracking thousands of bike assets across a network of hundreds of docking stations.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Integrity &amp; Consistency:</a:t>
            </a:r>
            <a:r>
              <a:rPr lang="en-US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Implementing strict constraints to ensure a "single source of truth" (e.g., preventing a bike from being docked in two locations simultaneously).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Operational Logistics:</a:t>
            </a:r>
            <a:r>
              <a:rPr lang="en-US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Modeling complex relationships for various subscription tiers, pay-as-you-go transactions, and fleet maintenance.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Analytical Readiness:</a:t>
            </a:r>
            <a:r>
              <a:rPr lang="en-US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Structuring data to allow for ride pattern analysis and optimized bike distribution.</a:t>
            </a:r>
          </a:p>
          <a:p>
            <a:pPr algn="just"/>
            <a:endParaRPr lang="en-US" dirty="0">
              <a:solidFill>
                <a:srgbClr val="394F6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c 8" descr="Cycling outline">
            <a:extLst>
              <a:ext uri="{FF2B5EF4-FFF2-40B4-BE49-F238E27FC236}">
                <a16:creationId xmlns:a16="http://schemas.microsoft.com/office/drawing/2014/main" id="{8920C1D2-C5B2-6A4E-E9E5-CBFE534AE0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761" y="2154975"/>
            <a:ext cx="649241" cy="649241"/>
          </a:xfrm>
          <a:prstGeom prst="rect">
            <a:avLst/>
          </a:prstGeom>
        </p:spPr>
      </p:pic>
      <p:pic>
        <p:nvPicPr>
          <p:cNvPr id="13" name="Graphic 12" descr="Lightbulb and gear outline">
            <a:extLst>
              <a:ext uri="{FF2B5EF4-FFF2-40B4-BE49-F238E27FC236}">
                <a16:creationId xmlns:a16="http://schemas.microsoft.com/office/drawing/2014/main" id="{2E044338-258C-55DB-FB6E-89B1885E79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9972" y="4612295"/>
            <a:ext cx="710819" cy="710819"/>
          </a:xfrm>
          <a:prstGeom prst="rect">
            <a:avLst/>
          </a:prstGeom>
        </p:spPr>
      </p:pic>
      <p:pic>
        <p:nvPicPr>
          <p:cNvPr id="15" name="Graphic 14" descr="Bar chart outline">
            <a:extLst>
              <a:ext uri="{FF2B5EF4-FFF2-40B4-BE49-F238E27FC236}">
                <a16:creationId xmlns:a16="http://schemas.microsoft.com/office/drawing/2014/main" id="{C7C7AB6F-9795-500B-CD59-4ED0D35C0B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761" y="5739141"/>
            <a:ext cx="639735" cy="639735"/>
          </a:xfrm>
          <a:prstGeom prst="rect">
            <a:avLst/>
          </a:prstGeom>
        </p:spPr>
      </p:pic>
      <p:pic>
        <p:nvPicPr>
          <p:cNvPr id="17" name="Graphic 16" descr="Checklist outline">
            <a:extLst>
              <a:ext uri="{FF2B5EF4-FFF2-40B4-BE49-F238E27FC236}">
                <a16:creationId xmlns:a16="http://schemas.microsoft.com/office/drawing/2014/main" id="{F8CA81BD-D87B-81B9-7F24-1C3E77BBDF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0761" y="3316574"/>
            <a:ext cx="649241" cy="64924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3D7A46E-52D7-D209-1A04-C0C2EF90C69F}"/>
              </a:ext>
            </a:extLst>
          </p:cNvPr>
          <p:cNvSpPr txBox="1"/>
          <p:nvPr/>
        </p:nvSpPr>
        <p:spPr>
          <a:xfrm>
            <a:off x="1135243" y="3552156"/>
            <a:ext cx="3190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394F6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Scale &amp; Performance Metrics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AC377A-F73A-2A11-890D-EEFC0BFA473C}"/>
              </a:ext>
            </a:extLst>
          </p:cNvPr>
          <p:cNvSpPr txBox="1"/>
          <p:nvPr/>
        </p:nvSpPr>
        <p:spPr>
          <a:xfrm>
            <a:off x="536771" y="4672079"/>
            <a:ext cx="4719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Bikes Supported | Data Integrity | Fleet Monitoring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17843D-F2C9-C009-5EAA-1E228DC6E11E}"/>
              </a:ext>
            </a:extLst>
          </p:cNvPr>
          <p:cNvSpPr txBox="1"/>
          <p:nvPr/>
        </p:nvSpPr>
        <p:spPr>
          <a:xfrm>
            <a:off x="536771" y="4206119"/>
            <a:ext cx="4719754" cy="35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10,000+       </a:t>
            </a:r>
            <a:r>
              <a:rPr lang="en-US" sz="1600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|</a:t>
            </a:r>
            <a:r>
              <a:rPr lang="en-US" sz="1600" b="1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99.9%     </a:t>
            </a:r>
            <a:r>
              <a:rPr lang="en-US" sz="1600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|</a:t>
            </a:r>
            <a:r>
              <a:rPr lang="en-US" sz="1600" b="1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Real-Time</a:t>
            </a:r>
          </a:p>
        </p:txBody>
      </p:sp>
    </p:spTree>
    <p:extLst>
      <p:ext uri="{BB962C8B-B14F-4D97-AF65-F5344CB8AC3E}">
        <p14:creationId xmlns:p14="http://schemas.microsoft.com/office/powerpoint/2010/main" val="3709704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0B2B6-F651-DBBD-690B-DB131137E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137" y="169182"/>
            <a:ext cx="5471160" cy="1325563"/>
          </a:xfrm>
        </p:spPr>
        <p:txBody>
          <a:bodyPr/>
          <a:lstStyle/>
          <a:p>
            <a:r>
              <a:rPr lang="en-US" b="1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Conceptual Design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3E40BB0-39B9-10B2-22F1-EA5A0BEB8D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4498" y="1363732"/>
            <a:ext cx="11445135" cy="4788491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E2B3FA4-E0BC-5726-8BB0-527F9E59BD97}"/>
              </a:ext>
            </a:extLst>
          </p:cNvPr>
          <p:cNvSpPr/>
          <p:nvPr/>
        </p:nvSpPr>
        <p:spPr>
          <a:xfrm>
            <a:off x="539931" y="6269789"/>
            <a:ext cx="3113314" cy="459573"/>
          </a:xfrm>
          <a:prstGeom prst="roundRect">
            <a:avLst/>
          </a:prstGeom>
          <a:noFill/>
          <a:ln>
            <a:solidFill>
              <a:srgbClr val="394F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394F63"/>
                </a:solidFill>
              </a:rPr>
              <a:t>Model Notation</a:t>
            </a:r>
          </a:p>
          <a:p>
            <a:pPr algn="ctr"/>
            <a:r>
              <a:rPr lang="en-US" sz="1600" dirty="0">
                <a:solidFill>
                  <a:srgbClr val="394F63"/>
                </a:solidFill>
              </a:rPr>
              <a:t>Chen’s Entity-Relationship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9CB9514-0E24-E85D-4DA1-6ECA57DE4A4A}"/>
              </a:ext>
            </a:extLst>
          </p:cNvPr>
          <p:cNvSpPr/>
          <p:nvPr/>
        </p:nvSpPr>
        <p:spPr>
          <a:xfrm>
            <a:off x="4490409" y="6269789"/>
            <a:ext cx="3113314" cy="459573"/>
          </a:xfrm>
          <a:prstGeom prst="roundRect">
            <a:avLst/>
          </a:prstGeom>
          <a:noFill/>
          <a:ln>
            <a:solidFill>
              <a:srgbClr val="394F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394F63"/>
                </a:solidFill>
              </a:rPr>
              <a:t>System Integrity</a:t>
            </a:r>
          </a:p>
          <a:p>
            <a:pPr algn="ctr"/>
            <a:r>
              <a:rPr lang="en-US" sz="1600" dirty="0">
                <a:solidFill>
                  <a:srgbClr val="394F63"/>
                </a:solidFill>
              </a:rPr>
              <a:t>3</a:t>
            </a:r>
            <a:r>
              <a:rPr lang="en-US" sz="1600" baseline="30000" dirty="0">
                <a:solidFill>
                  <a:srgbClr val="394F63"/>
                </a:solidFill>
              </a:rPr>
              <a:t>rd</a:t>
            </a:r>
            <a:r>
              <a:rPr lang="en-US" sz="1600" dirty="0">
                <a:solidFill>
                  <a:srgbClr val="394F63"/>
                </a:solidFill>
              </a:rPr>
              <a:t> Normal Form (3NF)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8E7BA3B-B46E-8EE8-18D3-843A1B7F486C}"/>
              </a:ext>
            </a:extLst>
          </p:cNvPr>
          <p:cNvSpPr/>
          <p:nvPr/>
        </p:nvSpPr>
        <p:spPr>
          <a:xfrm>
            <a:off x="8538756" y="6269789"/>
            <a:ext cx="3113313" cy="459573"/>
          </a:xfrm>
          <a:prstGeom prst="roundRect">
            <a:avLst/>
          </a:prstGeom>
          <a:noFill/>
          <a:ln>
            <a:solidFill>
              <a:srgbClr val="394F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394F63"/>
                </a:solidFill>
              </a:rPr>
              <a:t>Operational Nexus</a:t>
            </a:r>
          </a:p>
          <a:p>
            <a:pPr algn="ctr"/>
            <a:r>
              <a:rPr lang="en-US" sz="1600" dirty="0">
                <a:solidFill>
                  <a:srgbClr val="394F63"/>
                </a:solidFill>
              </a:rPr>
              <a:t>‘Ride’ Central Entity</a:t>
            </a:r>
          </a:p>
        </p:txBody>
      </p:sp>
    </p:spTree>
    <p:extLst>
      <p:ext uri="{BB962C8B-B14F-4D97-AF65-F5344CB8AC3E}">
        <p14:creationId xmlns:p14="http://schemas.microsoft.com/office/powerpoint/2010/main" val="437910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350202-2AB0-776D-D372-75D8D277B5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36" r="15035" b="8228"/>
          <a:stretch>
            <a:fillRect/>
          </a:stretch>
        </p:blipFill>
        <p:spPr>
          <a:xfrm>
            <a:off x="154395" y="1264242"/>
            <a:ext cx="9196251" cy="55937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2E0015-622E-A033-6677-C40A424E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389" cy="1097915"/>
          </a:xfrm>
        </p:spPr>
        <p:txBody>
          <a:bodyPr/>
          <a:lstStyle/>
          <a:p>
            <a:r>
              <a:rPr lang="en-US" b="1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Logical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D51797-E00B-46A3-BF8B-A471B84BF001}"/>
              </a:ext>
            </a:extLst>
          </p:cNvPr>
          <p:cNvSpPr txBox="1"/>
          <p:nvPr/>
        </p:nvSpPr>
        <p:spPr>
          <a:xfrm>
            <a:off x="9184091" y="1852373"/>
            <a:ext cx="2908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394F6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Schema Inventory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8E5F97-0477-90BA-686D-749A909AD708}"/>
              </a:ext>
            </a:extLst>
          </p:cNvPr>
          <p:cNvSpPr txBox="1"/>
          <p:nvPr/>
        </p:nvSpPr>
        <p:spPr>
          <a:xfrm>
            <a:off x="9288254" y="2532764"/>
            <a:ext cx="269984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 Tables | 54 Attributes:</a:t>
            </a:r>
          </a:p>
          <a:p>
            <a:pPr algn="just"/>
            <a:r>
              <a:rPr lang="en-US" sz="1600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Normalized to 3NF</a:t>
            </a:r>
          </a:p>
          <a:p>
            <a:pPr algn="just"/>
            <a:endParaRPr lang="en-US" dirty="0">
              <a:solidFill>
                <a:srgbClr val="394F6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US" sz="1600" b="1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 Foreign Keys:</a:t>
            </a:r>
          </a:p>
          <a:p>
            <a:pPr algn="just"/>
            <a:r>
              <a:rPr lang="en-US" sz="1600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Enforcing strict referential integrity.</a:t>
            </a:r>
          </a:p>
          <a:p>
            <a:pPr algn="just"/>
            <a:endParaRPr lang="en-US" dirty="0">
              <a:solidFill>
                <a:srgbClr val="394F6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US" sz="1600" b="1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Type Precision:</a:t>
            </a:r>
          </a:p>
          <a:p>
            <a:pPr algn="just"/>
            <a:r>
              <a:rPr lang="en-US" sz="1400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NUMERIC</a:t>
            </a:r>
            <a:r>
              <a:rPr lang="en-US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financials &amp; </a:t>
            </a:r>
            <a:r>
              <a:rPr lang="en-US" sz="1400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TIMESTAMP</a:t>
            </a:r>
            <a:r>
              <a:rPr lang="en-US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audit logs.</a:t>
            </a:r>
            <a:endParaRPr lang="en-US" dirty="0">
              <a:solidFill>
                <a:srgbClr val="394F6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en-US" dirty="0">
              <a:solidFill>
                <a:srgbClr val="394F6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US" sz="1600" b="1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Conditional Constraints:</a:t>
            </a:r>
          </a:p>
          <a:p>
            <a:pPr algn="just"/>
            <a:r>
              <a:rPr lang="en-US" sz="1600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Ensuring payment and maintenance integrity.</a:t>
            </a:r>
          </a:p>
        </p:txBody>
      </p:sp>
    </p:spTree>
    <p:extLst>
      <p:ext uri="{BB962C8B-B14F-4D97-AF65-F5344CB8AC3E}">
        <p14:creationId xmlns:p14="http://schemas.microsoft.com/office/powerpoint/2010/main" val="1120241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4C9E5A-1E7D-7F90-5787-F422AAE7A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98" y="2982516"/>
            <a:ext cx="8762999" cy="35103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0B5336-D318-683B-115F-F5A126606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Physical Implementation: DDL &amp; Constraints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F22211-123D-E0F7-A5AD-FD7B1B22A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617" y="1686696"/>
            <a:ext cx="7476309" cy="2122583"/>
          </a:xfrm>
          <a:prstGeom prst="rect">
            <a:avLst/>
          </a:prstGeom>
          <a:effectLst>
            <a:glow rad="94310">
              <a:schemeClr val="accent1">
                <a:alpha val="40000"/>
              </a:schemeClr>
            </a:glow>
            <a:softEdge rad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1D7F77-04A3-6C12-78EA-A3C85E62C86F}"/>
              </a:ext>
            </a:extLst>
          </p:cNvPr>
          <p:cNvSpPr txBox="1"/>
          <p:nvPr/>
        </p:nvSpPr>
        <p:spPr>
          <a:xfrm>
            <a:off x="838200" y="1793881"/>
            <a:ext cx="31437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Check Constraints: </a:t>
            </a:r>
            <a:r>
              <a:rPr lang="en-US" sz="1400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Enforcing battery levels and ride times.</a:t>
            </a:r>
          </a:p>
          <a:p>
            <a:pPr algn="just"/>
            <a:r>
              <a:rPr lang="en-US" sz="1400" b="1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Integrity: </a:t>
            </a:r>
            <a:r>
              <a:rPr lang="en-US" sz="1400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Unique serials and auto-incrementing PKs.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6E03DB-5222-E8E7-D8F4-5A0900CC46C5}"/>
              </a:ext>
            </a:extLst>
          </p:cNvPr>
          <p:cNvSpPr txBox="1"/>
          <p:nvPr/>
        </p:nvSpPr>
        <p:spPr>
          <a:xfrm>
            <a:off x="9797144" y="4322207"/>
            <a:ext cx="196378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Referential Mapping: </a:t>
            </a:r>
            <a:r>
              <a:rPr lang="en-US" sz="1400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Foreign keys linking the ecosystem.</a:t>
            </a:r>
          </a:p>
          <a:p>
            <a:pPr algn="just"/>
            <a:r>
              <a:rPr lang="en-US" sz="1400" b="1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Timeline Validation: </a:t>
            </a:r>
            <a:r>
              <a:rPr lang="en-US" sz="1400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chk_ride_time ensures logical start and end sequences.</a:t>
            </a:r>
          </a:p>
        </p:txBody>
      </p:sp>
    </p:spTree>
    <p:extLst>
      <p:ext uri="{BB962C8B-B14F-4D97-AF65-F5344CB8AC3E}">
        <p14:creationId xmlns:p14="http://schemas.microsoft.com/office/powerpoint/2010/main" val="3353772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8AE93C-F552-3040-F555-AE9CE41C94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490"/>
          <a:stretch>
            <a:fillRect/>
          </a:stretch>
        </p:blipFill>
        <p:spPr>
          <a:xfrm>
            <a:off x="838200" y="1507253"/>
            <a:ext cx="7772400" cy="32866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FE9A8F-A1CA-5B42-5DA8-EB0C43730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160" y="4610513"/>
            <a:ext cx="7772400" cy="19217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86D2ED-5D33-4C3E-23AC-C7095D35F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Database Population &amp; DML 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FCA64E-1E04-D88B-1E98-FB79F1BA326C}"/>
              </a:ext>
            </a:extLst>
          </p:cNvPr>
          <p:cNvSpPr txBox="1"/>
          <p:nvPr/>
        </p:nvSpPr>
        <p:spPr>
          <a:xfrm>
            <a:off x="8772796" y="1690687"/>
            <a:ext cx="25810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Multi-row transactional seeding for the Ride entity.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B0751C-A732-967F-EB5E-A9E9C076E9F8}"/>
              </a:ext>
            </a:extLst>
          </p:cNvPr>
          <p:cNvSpPr txBox="1"/>
          <p:nvPr/>
        </p:nvSpPr>
        <p:spPr>
          <a:xfrm>
            <a:off x="838200" y="5220120"/>
            <a:ext cx="25320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Post-execution state: Successful mapping of IDs and Timestamps.</a:t>
            </a:r>
          </a:p>
        </p:txBody>
      </p:sp>
    </p:spTree>
    <p:extLst>
      <p:ext uri="{BB962C8B-B14F-4D97-AF65-F5344CB8AC3E}">
        <p14:creationId xmlns:p14="http://schemas.microsoft.com/office/powerpoint/2010/main" val="4162798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E98BC-0F6D-915B-2E31-5B280FB78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Advanced Data Analytics</a:t>
            </a:r>
          </a:p>
        </p:txBody>
      </p:sp>
      <p:sp>
        <p:nvSpPr>
          <p:cNvPr id="4" name="Rectangular Callout 3">
            <a:extLst>
              <a:ext uri="{FF2B5EF4-FFF2-40B4-BE49-F238E27FC236}">
                <a16:creationId xmlns:a16="http://schemas.microsoft.com/office/drawing/2014/main" id="{908AC50C-80C1-36A8-C3D1-17F0E0FED021}"/>
              </a:ext>
            </a:extLst>
          </p:cNvPr>
          <p:cNvSpPr/>
          <p:nvPr/>
        </p:nvSpPr>
        <p:spPr>
          <a:xfrm>
            <a:off x="838200" y="1520375"/>
            <a:ext cx="7184571" cy="451622"/>
          </a:xfrm>
          <a:prstGeom prst="wedgeRect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i="1" dirty="0">
                <a:solidFill>
                  <a:srgbClr val="394F6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Insight: Which users have ridden more than the average distance?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3FD317-94CB-01E2-2B03-4962C1111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12" y="2331440"/>
            <a:ext cx="5943600" cy="38031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5E9E5A-FDAB-CE6D-8D9A-EE507C6D8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542" y="2586447"/>
            <a:ext cx="5491239" cy="3296591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5258BE7-0D53-95B9-23B7-092C3CA458F0}"/>
              </a:ext>
            </a:extLst>
          </p:cNvPr>
          <p:cNvSpPr/>
          <p:nvPr/>
        </p:nvSpPr>
        <p:spPr>
          <a:xfrm>
            <a:off x="539931" y="6269789"/>
            <a:ext cx="3113314" cy="459573"/>
          </a:xfrm>
          <a:prstGeom prst="roundRect">
            <a:avLst/>
          </a:prstGeom>
          <a:noFill/>
          <a:ln>
            <a:solidFill>
              <a:srgbClr val="394F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394F63"/>
                </a:solidFill>
              </a:rPr>
              <a:t>Logic Pattern</a:t>
            </a:r>
          </a:p>
          <a:p>
            <a:pPr algn="ctr"/>
            <a:r>
              <a:rPr lang="en-US" sz="1600" dirty="0">
                <a:solidFill>
                  <a:srgbClr val="394F63"/>
                </a:solidFill>
              </a:rPr>
              <a:t>CTE &amp; Subquery Implementation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60E5BF4-51C8-A625-8806-F134DE9484E2}"/>
              </a:ext>
            </a:extLst>
          </p:cNvPr>
          <p:cNvSpPr/>
          <p:nvPr/>
        </p:nvSpPr>
        <p:spPr>
          <a:xfrm>
            <a:off x="4490409" y="6269789"/>
            <a:ext cx="3113314" cy="459573"/>
          </a:xfrm>
          <a:prstGeom prst="roundRect">
            <a:avLst/>
          </a:prstGeom>
          <a:noFill/>
          <a:ln>
            <a:solidFill>
              <a:srgbClr val="394F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394F63"/>
                </a:solidFill>
              </a:rPr>
              <a:t>Statistical Filter</a:t>
            </a:r>
          </a:p>
          <a:p>
            <a:pPr algn="ctr"/>
            <a:r>
              <a:rPr lang="en-US" sz="1600" dirty="0">
                <a:solidFill>
                  <a:srgbClr val="394F63"/>
                </a:solidFill>
              </a:rPr>
              <a:t>Real-time Global Benchmarking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0867C84-8704-10BE-CC35-803F9440E7EF}"/>
              </a:ext>
            </a:extLst>
          </p:cNvPr>
          <p:cNvSpPr/>
          <p:nvPr/>
        </p:nvSpPr>
        <p:spPr>
          <a:xfrm>
            <a:off x="8538756" y="6269789"/>
            <a:ext cx="3113313" cy="459573"/>
          </a:xfrm>
          <a:prstGeom prst="roundRect">
            <a:avLst/>
          </a:prstGeom>
          <a:noFill/>
          <a:ln>
            <a:solidFill>
              <a:srgbClr val="394F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394F63"/>
                </a:solidFill>
              </a:rPr>
              <a:t>Business Value</a:t>
            </a:r>
          </a:p>
          <a:p>
            <a:pPr algn="ctr"/>
            <a:r>
              <a:rPr lang="en-US" sz="1600" dirty="0">
                <a:solidFill>
                  <a:srgbClr val="394F63"/>
                </a:solidFill>
              </a:rPr>
              <a:t>Power-user Segment ID</a:t>
            </a:r>
          </a:p>
        </p:txBody>
      </p:sp>
    </p:spTree>
    <p:extLst>
      <p:ext uri="{BB962C8B-B14F-4D97-AF65-F5344CB8AC3E}">
        <p14:creationId xmlns:p14="http://schemas.microsoft.com/office/powerpoint/2010/main" val="3311915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F67B6BB-34EA-1D7C-3BD9-55A1AAE041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10852"/>
          <a:stretch>
            <a:fillRect/>
          </a:stretch>
        </p:blipFill>
        <p:spPr>
          <a:xfrm>
            <a:off x="-58" y="1600"/>
            <a:ext cx="12192058" cy="6856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087762-97AD-4C03-87A8-782245A6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511" y="108254"/>
            <a:ext cx="8122920" cy="1515926"/>
          </a:xfrm>
        </p:spPr>
        <p:txBody>
          <a:bodyPr/>
          <a:lstStyle/>
          <a:p>
            <a:r>
              <a:rPr lang="en-US" b="1" dirty="0">
                <a:solidFill>
                  <a:srgbClr val="91FE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 for your attention!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7409D1-F21F-6CA1-0CC4-51A905C56C54}"/>
              </a:ext>
            </a:extLst>
          </p:cNvPr>
          <p:cNvSpPr txBox="1">
            <a:spLocks/>
          </p:cNvSpPr>
          <p:nvPr/>
        </p:nvSpPr>
        <p:spPr>
          <a:xfrm>
            <a:off x="8648700" y="1209873"/>
            <a:ext cx="3543300" cy="1515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i="1" dirty="0">
                <a:solidFill>
                  <a:srgbClr val="91FE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264855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358</Words>
  <Application>Microsoft Macintosh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Segoe UI</vt:lpstr>
      <vt:lpstr>Segoe UI Black</vt:lpstr>
      <vt:lpstr>Segoe UI Semibold</vt:lpstr>
      <vt:lpstr>Office Theme</vt:lpstr>
      <vt:lpstr>EcoRide</vt:lpstr>
      <vt:lpstr>PowerPoint Presentation</vt:lpstr>
      <vt:lpstr>Conceptual Design</vt:lpstr>
      <vt:lpstr>Logical Design</vt:lpstr>
      <vt:lpstr>Physical Implementation: DDL &amp; Constraints</vt:lpstr>
      <vt:lpstr>Database Population &amp; DML Implementation</vt:lpstr>
      <vt:lpstr>Advanced Data Analytics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 Dodikj</dc:creator>
  <cp:lastModifiedBy>Iva Dodikj</cp:lastModifiedBy>
  <cp:revision>5</cp:revision>
  <dcterms:created xsi:type="dcterms:W3CDTF">2026-03-13T13:41:32Z</dcterms:created>
  <dcterms:modified xsi:type="dcterms:W3CDTF">2026-03-13T17:01:41Z</dcterms:modified>
</cp:coreProperties>
</file>